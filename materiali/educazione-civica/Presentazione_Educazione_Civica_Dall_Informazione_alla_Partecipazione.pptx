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C9B91"/>
          </a:solidFill>
          <a:ln w="12700">
            <a:solidFill>
              <a:srgbClr val="2C9B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338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EDUCAZIONE CIVICA  /  CLASSE TERZA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036808" y="32918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85216" y="637336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spc="110" kern="0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DAL GIORNALE ALLA CITTADINANZA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5349240"/>
            <a:ext cx="12188952" cy="1508760"/>
          </a:xfrm>
          <a:prstGeom prst="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12984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DALL’INFORMAZIONE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76656" y="2075688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2C9B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ALLA PARTECIPAZIONE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694944" y="32461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53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proteste degli studenti: conoscere, comprendere, proporre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94944" y="5815584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UN’INDAGINE IN TRE SCALE: SARDEGNA · ITALIA · FRANCIA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C9B91"/>
          </a:solidFill>
          <a:ln w="12700">
            <a:solidFill>
              <a:srgbClr val="2C9B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338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EDUCAZIONE CIVICA  /  CLASSE TERZA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036808" y="32918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85216" y="637336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spc="110" kern="0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DOMANDA GUIDA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problema può diventare una proposta?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03504" y="184708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Partiamo dalle notizie, non da una conclusione già scritta.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76656" y="2852928"/>
            <a:ext cx="10808208" cy="2048256"/>
          </a:xfrm>
          <a:prstGeom prst="roundRect">
            <a:avLst>
              <a:gd name="adj" fmla="val 8036"/>
            </a:avLst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3182112"/>
            <a:ext cx="10058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Come possiamo trasformare un problema che riguarda gli studenti in una richiesta concreta alle istituzioni?</a:t>
            </a:r>
            <a:endParaRPr lang="en-US" sz="2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C9B91"/>
          </a:solidFill>
          <a:ln w="12700">
            <a:solidFill>
              <a:srgbClr val="2C9B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338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EDUCAZIONE CIVICA  /  CLASSE TERZA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036808" y="32918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85216" y="637336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spc="110" kern="0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ORGANIZZAZIONE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 gruppi. Tre punti di osservazione.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03504" y="184708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Siete voi a scegliere il caso da approfondire.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779776"/>
            <a:ext cx="3191256" cy="2404872"/>
          </a:xfrm>
          <a:prstGeom prst="roundRect">
            <a:avLst>
              <a:gd name="adj" fmla="val 68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779776"/>
            <a:ext cx="3191256" cy="128016"/>
          </a:xfrm>
          <a:prstGeom prst="rect">
            <a:avLst/>
          </a:prstGeom>
          <a:solidFill>
            <a:srgbClr val="2C9B91"/>
          </a:solidFill>
          <a:ln w="12700">
            <a:solidFill>
              <a:srgbClr val="2C9B9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31363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C9B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59536" y="3794760"/>
            <a:ext cx="2816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SARDEGNA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859536" y="4425696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Locale e regionale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169664" y="2779776"/>
            <a:ext cx="3191256" cy="2404872"/>
          </a:xfrm>
          <a:prstGeom prst="roundRect">
            <a:avLst>
              <a:gd name="adj" fmla="val 68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69664" y="2779776"/>
            <a:ext cx="3191256" cy="128016"/>
          </a:xfrm>
          <a:prstGeom prst="rect">
            <a:avLst/>
          </a:prstGeom>
          <a:solidFill>
            <a:srgbClr val="5079BE"/>
          </a:solidFill>
          <a:ln w="12700">
            <a:solidFill>
              <a:srgbClr val="5079B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31363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5079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4389120" y="3794760"/>
            <a:ext cx="2816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ITALIA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4389120" y="4425696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Nazionale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99248" y="2779776"/>
            <a:ext cx="3191256" cy="2404872"/>
          </a:xfrm>
          <a:prstGeom prst="roundRect">
            <a:avLst>
              <a:gd name="adj" fmla="val 68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99248" y="2779776"/>
            <a:ext cx="3191256" cy="128016"/>
          </a:xfrm>
          <a:prstGeom prst="rect">
            <a:avLst/>
          </a:prstGeom>
          <a:solidFill>
            <a:srgbClr val="ED8748"/>
          </a:solidFill>
          <a:ln w="12700">
            <a:solidFill>
              <a:srgbClr val="ED87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18704" y="31363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ED8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7918704" y="3794760"/>
            <a:ext cx="2816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FRANCIA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7918704" y="4425696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Internazionale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C9B91"/>
          </a:solidFill>
          <a:ln w="12700">
            <a:solidFill>
              <a:srgbClr val="2C9B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338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EDUCAZIONE CIVICA  /  CLASSE TERZA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036808" y="32918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85216" y="637336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spc="110" kern="0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RICERCA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Cercate una notizia recente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03504" y="184708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 punto di partenza è una protesta o una mobilitazione studentesca.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67512" y="2770632"/>
            <a:ext cx="5230368" cy="2359152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2770632"/>
            <a:ext cx="5230368" cy="2359152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30723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C9B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41832" y="371246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Trovate il caso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41832" y="4315968"/>
            <a:ext cx="43891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 cosa è accaduto? Dove e quando?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37960" y="30723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ED8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537960" y="371246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Verificate le fonti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537960" y="431596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Almeno due fonti: autore, data, attendibilità.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C9B91"/>
          </a:solidFill>
          <a:ln w="12700">
            <a:solidFill>
              <a:srgbClr val="2C9B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338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EDUCAZIONE CIVICA  /  CLASSE TERZA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036808" y="32918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85216" y="637336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spc="110" kern="0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METODO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Cinque passaggi per capire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03504" y="184708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 basta raccontare una notizia: bisogna interpretarne il significato civico.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13232" y="2596896"/>
            <a:ext cx="10744200" cy="521208"/>
          </a:xfrm>
          <a:prstGeom prst="roundRect">
            <a:avLst>
              <a:gd name="adj" fmla="val 31579"/>
            </a:avLst>
          </a:prstGeom>
          <a:solidFill>
            <a:srgbClr val="EDF3F4"/>
          </a:solidFill>
          <a:ln w="12700">
            <a:solidFill>
              <a:srgbClr val="EDF3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679192"/>
            <a:ext cx="402336" cy="347472"/>
          </a:xfrm>
          <a:prstGeom prst="roundRect">
            <a:avLst>
              <a:gd name="adj" fmla="val 47368"/>
            </a:avLst>
          </a:prstGeom>
          <a:solidFill>
            <a:srgbClr val="2C9B91"/>
          </a:solidFill>
          <a:ln w="12700">
            <a:solidFill>
              <a:srgbClr val="2C9B9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715768"/>
            <a:ext cx="173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99616" y="2715768"/>
            <a:ext cx="2880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INFORMARSI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0" y="2724912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53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Fonti, date, fatti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13232" y="3218688"/>
            <a:ext cx="10744200" cy="521208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3300984"/>
            <a:ext cx="402336" cy="347472"/>
          </a:xfrm>
          <a:prstGeom prst="roundRect">
            <a:avLst>
              <a:gd name="adj" fmla="val 47368"/>
            </a:avLst>
          </a:prstGeom>
          <a:solidFill>
            <a:srgbClr val="2C9B91"/>
          </a:solidFill>
          <a:ln w="12700">
            <a:solidFill>
              <a:srgbClr val="2C9B9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3337560"/>
            <a:ext cx="173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99616" y="3337560"/>
            <a:ext cx="2880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COMPRENDERE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0" y="3346704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53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 protesta? Perché?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13232" y="3840480"/>
            <a:ext cx="10744200" cy="521208"/>
          </a:xfrm>
          <a:prstGeom prst="roundRect">
            <a:avLst>
              <a:gd name="adj" fmla="val 31579"/>
            </a:avLst>
          </a:prstGeom>
          <a:solidFill>
            <a:srgbClr val="EDF3F4"/>
          </a:solidFill>
          <a:ln w="12700">
            <a:solidFill>
              <a:srgbClr val="EDF3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3922776"/>
            <a:ext cx="402336" cy="347472"/>
          </a:xfrm>
          <a:prstGeom prst="roundRect">
            <a:avLst>
              <a:gd name="adj" fmla="val 47368"/>
            </a:avLst>
          </a:prstGeom>
          <a:solidFill>
            <a:srgbClr val="2C9B91"/>
          </a:solidFill>
          <a:ln w="12700">
            <a:solidFill>
              <a:srgbClr val="2C9B9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3959352"/>
            <a:ext cx="173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99616" y="3959352"/>
            <a:ext cx="2880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ANALIZZARE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572000" y="3968496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53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Cause e diritti coinvolti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713232" y="4462272"/>
            <a:ext cx="10744200" cy="521208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680" y="4544568"/>
            <a:ext cx="402336" cy="347472"/>
          </a:xfrm>
          <a:prstGeom prst="roundRect">
            <a:avLst>
              <a:gd name="adj" fmla="val 47368"/>
            </a:avLst>
          </a:prstGeom>
          <a:solidFill>
            <a:srgbClr val="2C9B91"/>
          </a:solidFill>
          <a:ln w="12700">
            <a:solidFill>
              <a:srgbClr val="2C9B9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7552" y="4581144"/>
            <a:ext cx="173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99616" y="4581144"/>
            <a:ext cx="2880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INDIVIDUARE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572000" y="4590288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53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 istituzioni decidono?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713232" y="5084064"/>
            <a:ext cx="10744200" cy="521208"/>
          </a:xfrm>
          <a:prstGeom prst="roundRect">
            <a:avLst>
              <a:gd name="adj" fmla="val 31579"/>
            </a:avLst>
          </a:prstGeom>
          <a:solidFill>
            <a:srgbClr val="EDF3F4"/>
          </a:solidFill>
          <a:ln w="12700">
            <a:solidFill>
              <a:srgbClr val="EDF3F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8680" y="5166360"/>
            <a:ext cx="402336" cy="347472"/>
          </a:xfrm>
          <a:prstGeom prst="roundRect">
            <a:avLst>
              <a:gd name="adj" fmla="val 47368"/>
            </a:avLst>
          </a:prstGeom>
          <a:solidFill>
            <a:srgbClr val="2C9B91"/>
          </a:solidFill>
          <a:ln w="12700">
            <a:solidFill>
              <a:srgbClr val="2C9B9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7552" y="5202936"/>
            <a:ext cx="173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499616" y="5202936"/>
            <a:ext cx="2880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PROPORRE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572000" y="5212080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53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Quale risposta possibile?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C9B91"/>
          </a:solidFill>
          <a:ln w="12700">
            <a:solidFill>
              <a:srgbClr val="2C9B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338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EDUCAZIONE CIVICA  /  CLASSE TERZA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036808" y="32918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85216" y="637336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spc="110" kern="0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CONSEGNA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Oggi: preparate una scheda di gruppo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03504" y="184708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Condividete le informazioni in modo chiaro e verificabile.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49808" y="2542032"/>
            <a:ext cx="429768" cy="411480"/>
          </a:xfrm>
          <a:prstGeom prst="roundRect">
            <a:avLst>
              <a:gd name="adj" fmla="val 40000"/>
            </a:avLst>
          </a:prstGeom>
          <a:solidFill>
            <a:srgbClr val="2C9B91"/>
          </a:solidFill>
          <a:ln w="12700">
            <a:solidFill>
              <a:srgbClr val="2C9B9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615184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44752" y="2551176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53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Titolo della notizia e link alle fonti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749808" y="3191256"/>
            <a:ext cx="429768" cy="411480"/>
          </a:xfrm>
          <a:prstGeom prst="roundRect">
            <a:avLst>
              <a:gd name="adj" fmla="val 40000"/>
            </a:avLst>
          </a:prstGeom>
          <a:solidFill>
            <a:srgbClr val="5079BE"/>
          </a:solidFill>
          <a:ln w="12700">
            <a:solidFill>
              <a:srgbClr val="5079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26440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44752" y="32004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53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Sintesi dei fatti accertati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749808" y="3840480"/>
            <a:ext cx="429768" cy="411480"/>
          </a:xfrm>
          <a:prstGeom prst="roundRect">
            <a:avLst>
              <a:gd name="adj" fmla="val 40000"/>
            </a:avLst>
          </a:prstGeom>
          <a:solidFill>
            <a:srgbClr val="2C9B91"/>
          </a:solidFill>
          <a:ln w="12700">
            <a:solidFill>
              <a:srgbClr val="2C9B9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91363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44752" y="384962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53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 e motivi della protesta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749808" y="4489704"/>
            <a:ext cx="429768" cy="411480"/>
          </a:xfrm>
          <a:prstGeom prst="roundRect">
            <a:avLst>
              <a:gd name="adj" fmla="val 40000"/>
            </a:avLst>
          </a:prstGeom>
          <a:solidFill>
            <a:srgbClr val="5079BE"/>
          </a:solidFill>
          <a:ln w="12700">
            <a:solidFill>
              <a:srgbClr val="5079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4562856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44752" y="449884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53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Diritti coinvolti e istituzioni competenti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749808" y="5138928"/>
            <a:ext cx="429768" cy="411480"/>
          </a:xfrm>
          <a:prstGeom prst="roundRect">
            <a:avLst>
              <a:gd name="adj" fmla="val 40000"/>
            </a:avLst>
          </a:prstGeom>
          <a:solidFill>
            <a:srgbClr val="2C9B91"/>
          </a:solidFill>
          <a:ln w="12700">
            <a:solidFill>
              <a:srgbClr val="2C9B9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521208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444752" y="514807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53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 ipotesi di soluzione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C9B91"/>
          </a:solidFill>
          <a:ln w="12700">
            <a:solidFill>
              <a:srgbClr val="2C9B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338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EDUCAZIONE CIVICA  /  CLASSE TERZA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036808" y="32918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85216" y="637336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spc="110" kern="0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LABORATORIO DI CITTADINANZA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Dal confronto alla proposta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03504" y="184708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Ogni gruppo presenterà ciò che ha scoperto e le proprie argomentazioni.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13232" y="2660904"/>
            <a:ext cx="5212080" cy="2276856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2660904"/>
            <a:ext cx="5212080" cy="2276856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98094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5079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CONFRONTARE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36576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53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Cosa cambia tra Sardegna, Italia e Francia?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10528" y="298094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C9B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FORMULARE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10528" y="365760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53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richiesta motivata, rivolta all’istituzione competente.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58952" y="5504688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Nelle prossime lezioni: possibile confronto con i quotidiani cartacei.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C9B91"/>
          </a:solidFill>
          <a:ln w="12700">
            <a:solidFill>
              <a:srgbClr val="2C9B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338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EDUCAZIONE CIVICA  /  CLASSE TERZA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036808" y="32918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85216" y="637336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spc="110" kern="0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OBIETTIVO DI APPRENDIMENTO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cittadinanza che si esercita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03504" y="184708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070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opinioni possono essere diverse. Il metodo di lavoro deve essere rigoroso.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8096" y="2688336"/>
            <a:ext cx="10652760" cy="1993392"/>
          </a:xfrm>
          <a:prstGeom prst="roundRect">
            <a:avLst>
              <a:gd name="adj" fmla="val 8257"/>
            </a:avLst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3090672"/>
            <a:ext cx="10149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INFORMARSI  →  COMPRENDERE  →  PARTECIPARE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234440" y="3913632"/>
            <a:ext cx="9692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 valutiamo quale posizione scegliete, ma come documentate, ragionate e sostenete le vostre proposte.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50976" y="5340096"/>
            <a:ext cx="10149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C9B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ricerca comincia da voi.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Dall’informazione alla partecipazione</dc:title>
  <dc:subject>Ricerca sulle proteste studentesche</dc:subject>
  <dc:creator>Materiale didattico – Educazione civica</dc:creator>
  <cp:lastModifiedBy>Materiale didattico – Educazione civica</cp:lastModifiedBy>
  <cp:revision>1</cp:revision>
  <dcterms:created xsi:type="dcterms:W3CDTF">2026-10-15T07:03:38Z</dcterms:created>
  <dcterms:modified xsi:type="dcterms:W3CDTF">2026-10-15T07:03:38Z</dcterms:modified>
</cp:coreProperties>
</file>